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70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42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06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33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433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1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318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874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56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52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21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9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23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71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41359" y="149181"/>
            <a:ext cx="6578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72 Condensed" panose="020B0506030000000003" pitchFamily="34" charset="0"/>
                <a:cs typeface="72 Condensed" panose="020B0506030000000003" pitchFamily="34" charset="0"/>
              </a:rPr>
              <a:t>INTERNSHIP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1613" y="1434351"/>
            <a:ext cx="4900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>
                    <a:lumMod val="25000"/>
                  </a:schemeClr>
                </a:solidFill>
              </a:rPr>
              <a:t>DURATION:22 JULY 2025 TO 22 AUGUST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7287" y="795512"/>
            <a:ext cx="3329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solidFill>
                  <a:schemeClr val="bg2">
                    <a:lumMod val="50000"/>
                  </a:schemeClr>
                </a:solidFill>
              </a:rPr>
              <a:t>TATA MOTORS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8788" y="2194706"/>
            <a:ext cx="36132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PRESENTED BY:</a:t>
            </a:r>
          </a:p>
          <a:p>
            <a:r>
              <a:rPr lang="en-IN" sz="2000" dirty="0">
                <a:solidFill>
                  <a:schemeClr val="bg2">
                    <a:lumMod val="50000"/>
                  </a:schemeClr>
                </a:solidFill>
              </a:rPr>
              <a:t>BHOOMIKA PANDEY, DRISHTI RAWAT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0272" y="5184559"/>
            <a:ext cx="40970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SUBMITTED TO:</a:t>
            </a:r>
          </a:p>
          <a:p>
            <a:r>
              <a:rPr lang="en-IN" sz="2000" dirty="0"/>
              <a:t>NAVEEN KUMAR(CMS PURCHASE)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8788" y="3293615"/>
            <a:ext cx="786561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UNIVERSITY /COLLEGE:</a:t>
            </a:r>
          </a:p>
          <a:p>
            <a:r>
              <a:rPr lang="en-IN" sz="2000" dirty="0">
                <a:solidFill>
                  <a:schemeClr val="bg2">
                    <a:lumMod val="50000"/>
                  </a:schemeClr>
                </a:solidFill>
              </a:rPr>
              <a:t>WOMEN’S INSTITUTE OF TECHNOLOGY , VEER MADHO SINGH BHANDARI     </a:t>
            </a:r>
          </a:p>
          <a:p>
            <a:r>
              <a:rPr lang="en-IN" sz="2000" dirty="0">
                <a:solidFill>
                  <a:schemeClr val="bg2">
                    <a:lumMod val="50000"/>
                  </a:schemeClr>
                </a:solidFill>
              </a:rPr>
              <a:t>UTTARAKHAND TECHNICAL UNIVERSITY(UTU),DEHRADUN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4967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87640" y="2405495"/>
            <a:ext cx="7543800" cy="1449387"/>
          </a:xfrm>
        </p:spPr>
        <p:txBody>
          <a:bodyPr>
            <a:noAutofit/>
          </a:bodyPr>
          <a:lstStyle/>
          <a:p>
            <a:pPr algn="ctr"/>
            <a:r>
              <a:rPr sz="5400" b="1" dirty="0">
                <a:latin typeface="Baskerville Old Face" panose="02020602080505020303" pitchFamily="18" charset="0"/>
              </a:rPr>
              <a:t>Sales &amp; Procurement Forecasting using Machine Learning</a:t>
            </a:r>
            <a:r>
              <a:rPr lang="en-IN" sz="5400" b="1" dirty="0">
                <a:latin typeface="Baskerville Old Face" panose="02020602080505020303" pitchFamily="18" charset="0"/>
              </a:rPr>
              <a:t> and Python</a:t>
            </a:r>
            <a:endParaRPr sz="5400" b="1" dirty="0">
              <a:latin typeface="Baskerville Old Face" panose="02020602080505020303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987640" y="3941685"/>
            <a:ext cx="7543800" cy="17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574524" y="3991382"/>
            <a:ext cx="6569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</a:rPr>
              <a:t>XGBOOST MODEL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33313" y="4589547"/>
            <a:ext cx="4483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(MACHINE LEARNING)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AGENDA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514430"/>
            <a:ext cx="7543801" cy="4023360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accent6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accent6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Business Problem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accent6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Data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 Used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accent6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Forecasting Model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Code Used For Both Models</a:t>
            </a:r>
            <a:endParaRPr lang="en-IN" dirty="0">
              <a:solidFill>
                <a:schemeClr val="accent6">
                  <a:lumMod val="75000"/>
                </a:schemeClr>
              </a:solidFill>
              <a:latin typeface="Bahnschrift Light SemiCondensed" panose="020B0502040204020203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Model Evaluation Result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Results &amp; Accuracy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accent6">
                    <a:lumMod val="75000"/>
                  </a:schemeClr>
                </a:solidFill>
                <a:latin typeface="Bahnschrift Light SemiCondensed" panose="020B0502040204020203" pitchFamily="34" charset="0"/>
              </a:rPr>
              <a:t>Conclusion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203542"/>
            <a:ext cx="7543800" cy="30840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Forecasting is predicting future demand or trends using historical data.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Accurate forecasts help plan procurement efficiently, reduce costs, and avoid stock-outs.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This project analyzes procurement data (2022–2024) to predict demand for 2025.</a:t>
            </a:r>
          </a:p>
          <a:p>
            <a:endParaRPr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solidFill>
                  <a:schemeClr val="tx2">
                    <a:lumMod val="75000"/>
                  </a:schemeClr>
                </a:solidFill>
              </a:rPr>
              <a:t>Business Problem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IN" sz="3200" b="1" dirty="0"/>
              <a:t>(Amount &amp; Month Focus)</a:t>
            </a:r>
            <a:endParaRPr sz="3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510749"/>
            <a:ext cx="7543800" cy="38828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b="1" u="sng" dirty="0"/>
              <a:t>  Fluctuating Monthly Demand</a:t>
            </a:r>
            <a:r>
              <a:rPr lang="en-US" b="1" dirty="0"/>
              <a:t>:</a:t>
            </a:r>
            <a:r>
              <a:rPr lang="en-US" dirty="0"/>
              <a:t> Material purchase amounts vary each month, making it hard to predict future requirements.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u="sng" dirty="0"/>
              <a:t>  Risk of Overstocking or Understocking</a:t>
            </a:r>
            <a:r>
              <a:rPr lang="en-US" b="1" dirty="0"/>
              <a:t>:</a:t>
            </a:r>
            <a:r>
              <a:rPr lang="en-US" dirty="0"/>
              <a:t> Without accurate monthly forecasts, some months may have excess stock while others face shortages.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u="sng" dirty="0"/>
              <a:t>  Cost Implications</a:t>
            </a:r>
            <a:r>
              <a:rPr lang="en-US" b="1" dirty="0"/>
              <a:t>:</a:t>
            </a:r>
            <a:r>
              <a:rPr lang="en-US" dirty="0"/>
              <a:t> Unplanned high procurement amounts in certain months can tie up capital and increase storage costs.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  </a:t>
            </a:r>
            <a:r>
              <a:rPr lang="en-US" b="1" u="sng" dirty="0"/>
              <a:t>Planning Challenges</a:t>
            </a:r>
            <a:r>
              <a:rPr lang="en-US" b="1" dirty="0"/>
              <a:t>:</a:t>
            </a:r>
            <a:r>
              <a:rPr lang="en-US" dirty="0"/>
              <a:t> Manual tracking of monthly amounts is time-consuming and prone to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45733"/>
            <a:ext cx="7446396" cy="3680423"/>
          </a:xfrm>
        </p:spPr>
        <p:txBody>
          <a:bodyPr>
            <a:normAutofit lnSpcReduction="10000"/>
          </a:bodyPr>
          <a:lstStyle/>
          <a:p>
            <a:endParaRPr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sz="2400" dirty="0">
                <a:solidFill>
                  <a:schemeClr val="bg2">
                    <a:lumMod val="50000"/>
                  </a:schemeClr>
                </a:solidFill>
              </a:rPr>
              <a:t>Dataset: 2022–2024 (training), 2025 (testing).</a:t>
            </a:r>
          </a:p>
          <a:p>
            <a:r>
              <a:rPr sz="2400" dirty="0">
                <a:solidFill>
                  <a:schemeClr val="bg2">
                    <a:lumMod val="50000"/>
                  </a:schemeClr>
                </a:solidFill>
              </a:rPr>
              <a:t>Fields: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Amount Value, Month, Amount In LC , Amount</a:t>
            </a:r>
            <a:endParaRPr sz="24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sz="2400" dirty="0">
                <a:solidFill>
                  <a:schemeClr val="bg2">
                    <a:lumMod val="50000"/>
                  </a:schemeClr>
                </a:solidFill>
              </a:rPr>
              <a:t>Preprocessing: cleaning, missing values.</a:t>
            </a:r>
            <a:endParaRPr lang="en-US" sz="2400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DOUBLE CLICK TO ACCESS</a:t>
            </a:r>
          </a:p>
          <a:p>
            <a:r>
              <a:rPr lang="en-US" dirty="0"/>
              <a:t>THE DATA USED</a:t>
            </a:r>
            <a:endParaRPr dirty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3785888"/>
              </p:ext>
            </p:extLst>
          </p:nvPr>
        </p:nvGraphicFramePr>
        <p:xfrm>
          <a:off x="3287407" y="4200939"/>
          <a:ext cx="2517502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400" imgH="771480" progId="Excel.Sheet.12">
                  <p:embed/>
                </p:oleObj>
              </mc:Choice>
              <mc:Fallback>
                <p:oleObj name="Worksheet" showAsIcon="1" r:id="rId2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87407" y="4200939"/>
                        <a:ext cx="2517502" cy="182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ight Arrow 10"/>
          <p:cNvSpPr/>
          <p:nvPr/>
        </p:nvSpPr>
        <p:spPr>
          <a:xfrm>
            <a:off x="2610678" y="5029200"/>
            <a:ext cx="597216" cy="1722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2770" y="-725379"/>
            <a:ext cx="7543800" cy="1450757"/>
          </a:xfrm>
        </p:spPr>
        <p:txBody>
          <a:bodyPr/>
          <a:lstStyle/>
          <a:p>
            <a:r>
              <a:rPr lang="en-US" b="1" u="sng" dirty="0"/>
              <a:t>Forecasting Models</a:t>
            </a:r>
            <a:endParaRPr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0470" y="1321885"/>
            <a:ext cx="7543801" cy="402336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1. </a:t>
            </a:r>
            <a:r>
              <a:rPr lang="en-US" sz="2400" u="sng" dirty="0">
                <a:solidFill>
                  <a:schemeClr val="accent2">
                    <a:lumMod val="75000"/>
                  </a:schemeClr>
                </a:solidFill>
              </a:rPr>
              <a:t>PROPHET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u="sng" dirty="0">
                <a:solidFill>
                  <a:schemeClr val="accent2">
                    <a:lumMod val="75000"/>
                  </a:schemeClr>
                </a:solidFill>
              </a:rPr>
              <a:t>MODEL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                       2.</a:t>
            </a:r>
            <a:r>
              <a:rPr lang="en-US" sz="2400" u="sng" dirty="0">
                <a:solidFill>
                  <a:schemeClr val="accent2">
                    <a:lumMod val="75000"/>
                  </a:schemeClr>
                </a:solidFill>
              </a:rPr>
              <a:t> XGBOOST MODEL </a:t>
            </a:r>
            <a:endParaRPr sz="2400" u="sng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7361"/>
            <a:ext cx="4543037" cy="21496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36" y="1764087"/>
            <a:ext cx="4598633" cy="2096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3602" y="4307396"/>
            <a:ext cx="4060802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Prophet is a </a:t>
            </a:r>
            <a:r>
              <a:rPr lang="en-US" sz="1400" b="1" dirty="0"/>
              <a:t>time series forecasting model</a:t>
            </a:r>
            <a:r>
              <a:rPr lang="en-US" sz="1400" dirty="0"/>
              <a:t> designed for business data. It works well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Data has </a:t>
            </a:r>
            <a:r>
              <a:rPr lang="en-US" sz="1400" b="1" dirty="0"/>
              <a:t>strong seasonal effects</a:t>
            </a:r>
            <a:r>
              <a:rPr lang="en-US" sz="1400" dirty="0"/>
              <a:t> (daily, weekly, yearly).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Data has </a:t>
            </a:r>
            <a:r>
              <a:rPr lang="en-US" sz="1400" b="1" dirty="0"/>
              <a:t>holidays/events</a:t>
            </a:r>
            <a:r>
              <a:rPr lang="en-US" sz="1400" dirty="0"/>
              <a:t> affecting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Missing data points are present.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Non-linear trends exist.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4358936" y="1737361"/>
            <a:ext cx="0" cy="4610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692372" y="4225022"/>
            <a:ext cx="419417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/>
              <a:t>X</a:t>
            </a:r>
            <a:r>
              <a:rPr lang="en-US" sz="1200" dirty="0" err="1"/>
              <a:t>GBoost</a:t>
            </a:r>
            <a:r>
              <a:rPr lang="en-US" sz="1200" dirty="0"/>
              <a:t> is a </a:t>
            </a:r>
            <a:r>
              <a:rPr lang="en-US" sz="1200" b="1" dirty="0"/>
              <a:t>machine learning model</a:t>
            </a:r>
            <a:r>
              <a:rPr lang="en-US" sz="1200" dirty="0"/>
              <a:t> based on </a:t>
            </a:r>
            <a:r>
              <a:rPr lang="en-US" sz="1200" b="1" dirty="0"/>
              <a:t>gradient boosting of decision trees</a:t>
            </a:r>
            <a:r>
              <a:rPr lang="en-US" sz="1200" dirty="0"/>
              <a:t>. It’s </a:t>
            </a:r>
            <a:r>
              <a:rPr lang="en-US" sz="1200" b="1" dirty="0"/>
              <a:t>not a traditional time series model</a:t>
            </a:r>
            <a:r>
              <a:rPr lang="en-US" sz="1200" dirty="0"/>
              <a:t>, but you can use it for forecasting by creating </a:t>
            </a:r>
            <a:r>
              <a:rPr lang="en-US" sz="1200" b="1" dirty="0"/>
              <a:t>lag features</a:t>
            </a:r>
            <a:r>
              <a:rPr lang="en-US" sz="1200" dirty="0"/>
              <a:t>.</a:t>
            </a:r>
          </a:p>
          <a:p>
            <a:r>
              <a:rPr lang="en-US" sz="1200" dirty="0"/>
              <a:t>Gradient boosting builds models sequentially: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Start with a base model (simple prediction like mean value).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Train a new model to </a:t>
            </a:r>
            <a:r>
              <a:rPr lang="en-US" sz="1200" b="1" dirty="0"/>
              <a:t>correct the errors</a:t>
            </a:r>
            <a:r>
              <a:rPr lang="en-US" sz="1200" dirty="0"/>
              <a:t> of the previous model.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Repeat, </a:t>
            </a:r>
            <a:r>
              <a:rPr lang="en-US" sz="1200" b="1" dirty="0"/>
              <a:t>adding models to minimize prediction error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-974062"/>
            <a:ext cx="7543800" cy="1450976"/>
          </a:xfrm>
        </p:spPr>
        <p:txBody>
          <a:bodyPr>
            <a:normAutofit/>
          </a:bodyPr>
          <a:lstStyle/>
          <a:p>
            <a:r>
              <a:rPr lang="en-IN" sz="2800" b="1" u="sng" dirty="0"/>
              <a:t>CODE USED FOR PROPHET MODEL</a:t>
            </a:r>
            <a:endParaRPr sz="2800" b="1" dirty="0"/>
          </a:p>
        </p:txBody>
      </p:sp>
      <p:sp>
        <p:nvSpPr>
          <p:cNvPr id="3" name="Rectangle 2"/>
          <p:cNvSpPr/>
          <p:nvPr/>
        </p:nvSpPr>
        <p:spPr>
          <a:xfrm>
            <a:off x="115409" y="361504"/>
            <a:ext cx="4572000" cy="67095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4EC9B0"/>
                </a:solidFill>
                <a:latin typeface="Consolas" panose="020B0609020204030204" pitchFamily="49" charset="0"/>
              </a:rPr>
              <a:t>pandas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pd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4EC9B0"/>
                </a:solidFill>
                <a:latin typeface="Consolas" panose="020B0609020204030204" pitchFamily="49" charset="0"/>
              </a:rPr>
              <a:t>prophet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4EC9B0"/>
                </a:solidFill>
                <a:latin typeface="Consolas" panose="020B0609020204030204" pitchFamily="49" charset="0"/>
              </a:rPr>
              <a:t>Prophet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sklearn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metrics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mean_absolute_error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mean_squared_error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matplotlib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pyplot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pd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read_excel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"file(3).</a:t>
            </a:r>
            <a:r>
              <a:rPr lang="en-IN" sz="800" dirty="0" err="1">
                <a:solidFill>
                  <a:srgbClr val="CE9178"/>
                </a:solidFill>
                <a:latin typeface="Consolas" panose="020B0609020204030204" pitchFamily="49" charset="0"/>
              </a:rPr>
              <a:t>xlsx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'MONTH'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pd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to_datetime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'MONTH'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format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%b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-%y'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sort_values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'MONTH'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reset_index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drop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rename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columns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{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IN" sz="800" dirty="0" err="1">
                <a:solidFill>
                  <a:srgbClr val="CE9178"/>
                </a:solidFill>
                <a:latin typeface="Consolas" panose="020B0609020204030204" pitchFamily="49" charset="0"/>
              </a:rPr>
              <a:t>MONTH'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en-IN" sz="800" dirty="0" err="1">
                <a:solidFill>
                  <a:srgbClr val="CE9178"/>
                </a:solidFill>
                <a:latin typeface="Consolas" panose="020B0609020204030204" pitchFamily="49" charset="0"/>
              </a:rPr>
              <a:t>'ds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'AMOUNT </a:t>
            </a:r>
            <a:r>
              <a:rPr lang="en-IN" sz="800" dirty="0" err="1">
                <a:solidFill>
                  <a:srgbClr val="CE9178"/>
                </a:solidFill>
                <a:latin typeface="Consolas" panose="020B0609020204030204" pitchFamily="49" charset="0"/>
              </a:rPr>
              <a:t>VALUE'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  <a:r>
              <a:rPr lang="en-IN" sz="800" dirty="0" err="1">
                <a:solidFill>
                  <a:srgbClr val="CE9178"/>
                </a:solidFill>
                <a:latin typeface="Consolas" panose="020B0609020204030204" pitchFamily="49" charset="0"/>
              </a:rPr>
              <a:t>'y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})</a:t>
            </a: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'year'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'ds'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].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year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train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'year'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].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between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2022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2024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)].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copy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'year'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==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2025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].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copy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4EC9B0"/>
                </a:solidFill>
                <a:latin typeface="Consolas" panose="020B0609020204030204" pitchFamily="49" charset="0"/>
              </a:rPr>
              <a:t>Prophet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yearly_seasonality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daily_seasonality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weekly_seasonality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False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fit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train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future_dates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pd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date_range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start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train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'ds'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].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min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(),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end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'2028-12-01'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freq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'MS'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future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pd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DataFrame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({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'ds'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future_dates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})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forecast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predict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future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forecast_test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forecast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forecast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'ds'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isin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'ds'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])].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copy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'y'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].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values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y_pred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forecast_test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IN" sz="800" dirty="0" err="1">
                <a:solidFill>
                  <a:srgbClr val="CE9178"/>
                </a:solidFill>
                <a:latin typeface="Consolas" panose="020B0609020204030204" pitchFamily="49" charset="0"/>
              </a:rPr>
              <a:t>yhat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].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values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mae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mean_absolute_error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y_pred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rmse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sqrt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mean_squared_error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y_pred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mape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mean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abs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((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-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y_pred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/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)) 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*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en-IN" sz="800" dirty="0" err="1">
                <a:solidFill>
                  <a:srgbClr val="CE9178"/>
                </a:solidFill>
                <a:latin typeface="Consolas" panose="020B0609020204030204" pitchFamily="49" charset="0"/>
              </a:rPr>
              <a:t>"MAE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mae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:.2f}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, RMSE: 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rmse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:.2f}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, MAPE: 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mape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:.2f}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%"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figure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figsize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12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plot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train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'ds'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train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'y'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label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'Train'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marker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'o'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plot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'ds'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label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'Actual (2025)'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marker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'o'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plot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'ds'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y_pred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label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'Forecast (Prophet)'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marker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'x'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title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"Line Chart: Actual vs Forecast"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xlabel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"Month"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ylabel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"Amount"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xticks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rotation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45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legend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grid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tight_layout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show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138" y="1812480"/>
            <a:ext cx="4829452" cy="24147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72326" y="1571348"/>
            <a:ext cx="1660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OUTPUT</a:t>
            </a:r>
            <a:endParaRPr lang="en-IN" b="1" u="sng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97642"/>
            <a:ext cx="6720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CODE USED FOR XGBOOST MODEL </a:t>
            </a:r>
          </a:p>
        </p:txBody>
      </p:sp>
      <p:sp>
        <p:nvSpPr>
          <p:cNvPr id="3" name="Rectangle 2"/>
          <p:cNvSpPr/>
          <p:nvPr/>
        </p:nvSpPr>
        <p:spPr>
          <a:xfrm>
            <a:off x="8878" y="275234"/>
            <a:ext cx="7563774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4EC9B0"/>
                </a:solidFill>
                <a:latin typeface="Consolas" panose="020B0609020204030204" pitchFamily="49" charset="0"/>
              </a:rPr>
              <a:t>pandas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pd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numpy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xgboost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XGBRegressor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sklearn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metrics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mean_absolute_error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mean_squared_error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from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sklearn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model_selection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train_test_split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import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matplotlib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pyplot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as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pd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read_excel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"file(3).</a:t>
            </a:r>
            <a:r>
              <a:rPr lang="en-IN" sz="800" dirty="0" err="1">
                <a:solidFill>
                  <a:srgbClr val="CE9178"/>
                </a:solidFill>
                <a:latin typeface="Consolas" panose="020B0609020204030204" pitchFamily="49" charset="0"/>
              </a:rPr>
              <a:t>xlsx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'MONTH'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pd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to_datetime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'MONTH'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format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%b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-%y'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  </a:t>
            </a: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sort_values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'MONTH'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reset_index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drop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'year'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'MONTH'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].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year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IN" sz="800" dirty="0" err="1">
                <a:solidFill>
                  <a:srgbClr val="CE9178"/>
                </a:solidFill>
                <a:latin typeface="Consolas" panose="020B0609020204030204" pitchFamily="49" charset="0"/>
              </a:rPr>
              <a:t>month_num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'MONTH'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].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month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lag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C586C0"/>
                </a:solidFill>
                <a:latin typeface="Consolas" panose="020B0609020204030204" pitchFamily="49" charset="0"/>
              </a:rPr>
              <a:t>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[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]:</a:t>
            </a:r>
          </a:p>
          <a:p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en-IN" sz="800" dirty="0" err="1">
                <a:solidFill>
                  <a:srgbClr val="CE9178"/>
                </a:solidFill>
                <a:latin typeface="Consolas" panose="020B0609020204030204" pitchFamily="49" charset="0"/>
              </a:rPr>
              <a:t>'lag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_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lag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'AMOUNT VALUE'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].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shift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lag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'roll_3'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'AMOUNT VALUE'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].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shift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rolling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window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mean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'roll_6'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'AMOUNT VALUE'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].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shift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rolling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window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6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mean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dropna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().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reset_index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drop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True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train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'year'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&lt;=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2024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'year'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==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2025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X_train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train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drop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columns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'AMOUNT VALUE'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'MONTH'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y_train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train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'AMOUNT VALUE'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X_test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test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drop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columns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'AMOUNT VALUE'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'MONTH'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])</a:t>
            </a: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'AMOUNT VALUE'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XGBRegressor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n_estimators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500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learning_rate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0.05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max_depth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random_state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42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fit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X_train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y_train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y_pred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model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predict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X_test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mae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mean_absolute_error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y_pred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rmse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sqrt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mean_squared_error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y_pred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mape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mean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abs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((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-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y_pred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 </a:t>
            </a: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/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)) 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*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endParaRPr lang="en-IN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en-IN" sz="800" dirty="0" err="1">
                <a:solidFill>
                  <a:srgbClr val="CE9178"/>
                </a:solidFill>
                <a:latin typeface="Consolas" panose="020B0609020204030204" pitchFamily="49" charset="0"/>
              </a:rPr>
              <a:t>"MAE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: 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mae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:.2f}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, RMSE: 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rmse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:.2f}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, MAPE: 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mape</a:t>
            </a:r>
            <a:r>
              <a:rPr lang="en-IN" sz="800" dirty="0">
                <a:solidFill>
                  <a:srgbClr val="569CD6"/>
                </a:solidFill>
                <a:latin typeface="Consolas" panose="020B0609020204030204" pitchFamily="49" charset="0"/>
              </a:rPr>
              <a:t>:.2f}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%"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figure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figsize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5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plot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train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'MONTH'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train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'AMOUNT VALUE'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label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"Train"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plot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'MONTH'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y_test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values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label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"Actual (2025)"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marker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'o'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plot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test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'MONTH'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], </a:t>
            </a:r>
            <a:r>
              <a:rPr lang="en-IN" sz="800" dirty="0" err="1">
                <a:solidFill>
                  <a:srgbClr val="9CDCFE"/>
                </a:solidFill>
                <a:latin typeface="Consolas" panose="020B0609020204030204" pitchFamily="49" charset="0"/>
              </a:rPr>
              <a:t>y_pred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label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800" dirty="0" err="1">
                <a:solidFill>
                  <a:srgbClr val="CE9178"/>
                </a:solidFill>
                <a:latin typeface="Consolas" panose="020B0609020204030204" pitchFamily="49" charset="0"/>
              </a:rPr>
              <a:t>XGBoost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 Forecast"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marker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CE9178"/>
                </a:solidFill>
                <a:latin typeface="Consolas" panose="020B0609020204030204" pitchFamily="49" charset="0"/>
              </a:rPr>
              <a:t>'x'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legend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xticks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sz="800" dirty="0">
                <a:solidFill>
                  <a:srgbClr val="9CDCFE"/>
                </a:solidFill>
                <a:latin typeface="Consolas" panose="020B0609020204030204" pitchFamily="49" charset="0"/>
              </a:rPr>
              <a:t>rotation</a:t>
            </a:r>
            <a:r>
              <a:rPr lang="en-IN" sz="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800" dirty="0">
                <a:solidFill>
                  <a:srgbClr val="B5CEA8"/>
                </a:solidFill>
                <a:latin typeface="Consolas" panose="020B0609020204030204" pitchFamily="49" charset="0"/>
              </a:rPr>
              <a:t>45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800" dirty="0" err="1">
                <a:solidFill>
                  <a:srgbClr val="4EC9B0"/>
                </a:solidFill>
                <a:latin typeface="Consolas" panose="020B0609020204030204" pitchFamily="49" charset="0"/>
              </a:rPr>
              <a:t>plt</a:t>
            </a:r>
            <a:r>
              <a:rPr lang="en-IN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show</a:t>
            </a:r>
            <a: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en-IN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IN" sz="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4862" y="1846557"/>
            <a:ext cx="4199138" cy="263428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48141" y="1661891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/>
              <a:t>OUTPUT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313026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-627063"/>
            <a:ext cx="7543800" cy="1449388"/>
          </a:xfrm>
        </p:spPr>
        <p:txBody>
          <a:bodyPr/>
          <a:lstStyle/>
          <a:p>
            <a:r>
              <a:rPr lang="en-IN" b="1" u="sng" dirty="0"/>
              <a:t>Model Evaluation Result</a:t>
            </a:r>
            <a:endParaRPr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044489"/>
              </p:ext>
            </p:extLst>
          </p:nvPr>
        </p:nvGraphicFramePr>
        <p:xfrm>
          <a:off x="437320" y="1046921"/>
          <a:ext cx="7924800" cy="4822066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3016272748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763919675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1654329973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941034217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80664429"/>
                    </a:ext>
                  </a:extLst>
                </a:gridCol>
              </a:tblGrid>
              <a:tr h="1048275">
                <a:tc>
                  <a:txBody>
                    <a:bodyPr/>
                    <a:lstStyle/>
                    <a:p>
                      <a:r>
                        <a:rPr lang="en-IN" sz="17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Metric</a:t>
                      </a:r>
                      <a:endParaRPr lang="en-IN" sz="17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Benchmark (Acceptable Range)</a:t>
                      </a:r>
                      <a:endParaRPr lang="en-IN" sz="17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Prophet Result</a:t>
                      </a:r>
                      <a:endParaRPr lang="en-IN" sz="17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XGBoost</a:t>
                      </a:r>
                      <a:r>
                        <a:rPr lang="en-IN" sz="17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Result</a:t>
                      </a:r>
                      <a:endParaRPr lang="en-IN" sz="17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Conclusion</a:t>
                      </a:r>
                      <a:endParaRPr lang="en-IN" sz="17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401599"/>
                  </a:ext>
                </a:extLst>
              </a:tr>
              <a:tr h="1048275">
                <a:tc>
                  <a:txBody>
                    <a:bodyPr/>
                    <a:lstStyle/>
                    <a:p>
                      <a:r>
                        <a:rPr lang="en-IN" sz="1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MAE</a:t>
                      </a:r>
                      <a:r>
                        <a:rPr lang="en-IN" sz="17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(Mean Absolute Error)</a:t>
                      </a: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≤ 20–30 units</a:t>
                      </a: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61 ❌</a:t>
                      </a: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 dirty="0"/>
                        <a:t>16 ✅</a:t>
                      </a:r>
                      <a:endParaRPr lang="en-IN" sz="1700" dirty="0"/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XGBoost fits within limit</a:t>
                      </a: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257797"/>
                  </a:ext>
                </a:extLst>
              </a:tr>
              <a:tr h="1362758">
                <a:tc>
                  <a:txBody>
                    <a:bodyPr/>
                    <a:lstStyle/>
                    <a:p>
                      <a:r>
                        <a:rPr lang="en-US" sz="1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RMSE</a:t>
                      </a:r>
                      <a:r>
                        <a:rPr lang="en-US" sz="17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(Root Mean Squared Error)</a:t>
                      </a: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≤ 30–40 units</a:t>
                      </a: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73 ❌</a:t>
                      </a: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 dirty="0"/>
                        <a:t>24 ✅</a:t>
                      </a:r>
                      <a:endParaRPr lang="en-IN" sz="1700" dirty="0"/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XGBoost performs very well</a:t>
                      </a: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9880583"/>
                  </a:ext>
                </a:extLst>
              </a:tr>
              <a:tr h="1362758">
                <a:tc>
                  <a:txBody>
                    <a:bodyPr/>
                    <a:lstStyle/>
                    <a:p>
                      <a:r>
                        <a:rPr lang="en-IN" sz="17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MAPE</a:t>
                      </a:r>
                      <a:r>
                        <a:rPr lang="en-IN" sz="17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(Mean Absolute Percentage Error)</a:t>
                      </a: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≤ 20%</a:t>
                      </a: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54% ❌</a:t>
                      </a: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b="1" dirty="0"/>
                        <a:t>18% ✅</a:t>
                      </a:r>
                      <a:endParaRPr lang="en-IN" sz="1700" dirty="0"/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 err="1"/>
                        <a:t>XGBoost</a:t>
                      </a:r>
                      <a:r>
                        <a:rPr lang="en-IN" sz="1700" dirty="0"/>
                        <a:t> is accurate</a:t>
                      </a:r>
                    </a:p>
                  </a:txBody>
                  <a:tcPr marL="87451" marR="87451" marT="43725" marB="4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889586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0817" y="1152939"/>
          <a:ext cx="7991061" cy="4784035"/>
        </p:xfrm>
        <a:graphic>
          <a:graphicData uri="http://schemas.openxmlformats.org/drawingml/2006/table">
            <a:tbl>
              <a:tblPr/>
              <a:tblGrid>
                <a:gridCol w="7991061">
                  <a:extLst>
                    <a:ext uri="{9D8B030D-6E8A-4147-A177-3AD203B41FA5}">
                      <a16:colId xmlns:a16="http://schemas.microsoft.com/office/drawing/2014/main" val="1209754070"/>
                    </a:ext>
                  </a:extLst>
                </a:gridCol>
              </a:tblGrid>
              <a:tr h="478403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110981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312264"/>
              </p:ext>
            </p:extLst>
          </p:nvPr>
        </p:nvGraphicFramePr>
        <p:xfrm>
          <a:off x="1934816" y="1152939"/>
          <a:ext cx="4744279" cy="4784035"/>
        </p:xfrm>
        <a:graphic>
          <a:graphicData uri="http://schemas.openxmlformats.org/drawingml/2006/table">
            <a:tbl>
              <a:tblPr/>
              <a:tblGrid>
                <a:gridCol w="4744279">
                  <a:extLst>
                    <a:ext uri="{9D8B030D-6E8A-4147-A177-3AD203B41FA5}">
                      <a16:colId xmlns:a16="http://schemas.microsoft.com/office/drawing/2014/main" val="552348944"/>
                    </a:ext>
                  </a:extLst>
                </a:gridCol>
              </a:tblGrid>
              <a:tr h="478403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257819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367414"/>
              </p:ext>
            </p:extLst>
          </p:nvPr>
        </p:nvGraphicFramePr>
        <p:xfrm>
          <a:off x="3511826" y="1152939"/>
          <a:ext cx="1669774" cy="4770783"/>
        </p:xfrm>
        <a:graphic>
          <a:graphicData uri="http://schemas.openxmlformats.org/drawingml/2006/table">
            <a:tbl>
              <a:tblPr/>
              <a:tblGrid>
                <a:gridCol w="1669774">
                  <a:extLst>
                    <a:ext uri="{9D8B030D-6E8A-4147-A177-3AD203B41FA5}">
                      <a16:colId xmlns:a16="http://schemas.microsoft.com/office/drawing/2014/main" val="2825362893"/>
                    </a:ext>
                  </a:extLst>
                </a:gridCol>
              </a:tblGrid>
              <a:tr h="477078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361917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421289"/>
              </p:ext>
            </p:extLst>
          </p:nvPr>
        </p:nvGraphicFramePr>
        <p:xfrm>
          <a:off x="410817" y="1152939"/>
          <a:ext cx="7991061" cy="861391"/>
        </p:xfrm>
        <a:graphic>
          <a:graphicData uri="http://schemas.openxmlformats.org/drawingml/2006/table">
            <a:tbl>
              <a:tblPr/>
              <a:tblGrid>
                <a:gridCol w="7991061">
                  <a:extLst>
                    <a:ext uri="{9D8B030D-6E8A-4147-A177-3AD203B41FA5}">
                      <a16:colId xmlns:a16="http://schemas.microsoft.com/office/drawing/2014/main" val="3041023426"/>
                    </a:ext>
                  </a:extLst>
                </a:gridCol>
              </a:tblGrid>
              <a:tr h="86139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879628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527066"/>
              </p:ext>
            </p:extLst>
          </p:nvPr>
        </p:nvGraphicFramePr>
        <p:xfrm>
          <a:off x="410817" y="3008243"/>
          <a:ext cx="7991061" cy="1431235"/>
        </p:xfrm>
        <a:graphic>
          <a:graphicData uri="http://schemas.openxmlformats.org/drawingml/2006/table">
            <a:tbl>
              <a:tblPr/>
              <a:tblGrid>
                <a:gridCol w="7991061">
                  <a:extLst>
                    <a:ext uri="{9D8B030D-6E8A-4147-A177-3AD203B41FA5}">
                      <a16:colId xmlns:a16="http://schemas.microsoft.com/office/drawing/2014/main" val="3552708697"/>
                    </a:ext>
                  </a:extLst>
                </a:gridCol>
              </a:tblGrid>
              <a:tr h="143123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0927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-724694"/>
            <a:ext cx="7543800" cy="1449387"/>
          </a:xfrm>
        </p:spPr>
        <p:txBody>
          <a:bodyPr/>
          <a:lstStyle/>
          <a:p>
            <a:r>
              <a:rPr lang="en-IN" b="1" u="sng" dirty="0"/>
              <a:t>Result and Accuracy</a:t>
            </a:r>
            <a:endParaRPr b="1" u="sng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513842678"/>
              </p:ext>
            </p:extLst>
          </p:nvPr>
        </p:nvGraphicFramePr>
        <p:xfrm>
          <a:off x="4359964" y="1046922"/>
          <a:ext cx="4638264" cy="4412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644">
                  <a:extLst>
                    <a:ext uri="{9D8B030D-6E8A-4147-A177-3AD203B41FA5}">
                      <a16:colId xmlns:a16="http://schemas.microsoft.com/office/drawing/2014/main" val="1867342352"/>
                    </a:ext>
                  </a:extLst>
                </a:gridCol>
                <a:gridCol w="1026707">
                  <a:extLst>
                    <a:ext uri="{9D8B030D-6E8A-4147-A177-3AD203B41FA5}">
                      <a16:colId xmlns:a16="http://schemas.microsoft.com/office/drawing/2014/main" val="3680174011"/>
                    </a:ext>
                  </a:extLst>
                </a:gridCol>
                <a:gridCol w="1174435">
                  <a:extLst>
                    <a:ext uri="{9D8B030D-6E8A-4147-A177-3AD203B41FA5}">
                      <a16:colId xmlns:a16="http://schemas.microsoft.com/office/drawing/2014/main" val="2650816614"/>
                    </a:ext>
                  </a:extLst>
                </a:gridCol>
                <a:gridCol w="1366478">
                  <a:extLst>
                    <a:ext uri="{9D8B030D-6E8A-4147-A177-3AD203B41FA5}">
                      <a16:colId xmlns:a16="http://schemas.microsoft.com/office/drawing/2014/main" val="296091490"/>
                    </a:ext>
                  </a:extLst>
                </a:gridCol>
              </a:tblGrid>
              <a:tr h="1557520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</a:t>
                      </a:r>
                      <a:r>
                        <a:rPr lang="en-IN" baseline="0" dirty="0"/>
                        <a:t> ABSOLUTE ERROR(MAE)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ROOT</a:t>
                      </a:r>
                      <a:r>
                        <a:rPr lang="en-IN" baseline="0" dirty="0"/>
                        <a:t> MEAN SQUARE ERROR</a:t>
                      </a:r>
                    </a:p>
                    <a:p>
                      <a:r>
                        <a:rPr lang="en-IN" baseline="0" dirty="0"/>
                        <a:t>(RMSE)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 ABSOLUTE</a:t>
                      </a:r>
                      <a:r>
                        <a:rPr lang="en-IN" baseline="0" dirty="0"/>
                        <a:t> PERCENTAGE ERROR</a:t>
                      </a:r>
                    </a:p>
                    <a:p>
                      <a:r>
                        <a:rPr lang="en-IN" baseline="0" dirty="0"/>
                        <a:t>(MAPE)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043779"/>
                  </a:ext>
                </a:extLst>
              </a:tr>
              <a:tr h="1427727">
                <a:tc>
                  <a:txBody>
                    <a:bodyPr/>
                    <a:lstStyle/>
                    <a:p>
                      <a:r>
                        <a:rPr lang="en-IN" sz="1600" dirty="0"/>
                        <a:t>XG</a:t>
                      </a:r>
                      <a:r>
                        <a:rPr lang="en-IN" sz="1600" baseline="0" dirty="0"/>
                        <a:t> BOOST MODEL</a:t>
                      </a:r>
                    </a:p>
                    <a:p>
                      <a:r>
                        <a:rPr lang="en-IN" sz="1600" baseline="0" dirty="0"/>
                        <a:t>(MACHINE LEARNING</a:t>
                      </a:r>
                      <a:r>
                        <a:rPr lang="en-IN" baseline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664854"/>
                  </a:ext>
                </a:extLst>
              </a:tr>
              <a:tr h="1427727">
                <a:tc>
                  <a:txBody>
                    <a:bodyPr/>
                    <a:lstStyle/>
                    <a:p>
                      <a:r>
                        <a:rPr lang="en-IN" sz="1600" dirty="0"/>
                        <a:t>PROPHET MODEL</a:t>
                      </a:r>
                    </a:p>
                    <a:p>
                      <a:r>
                        <a:rPr lang="en-IN" sz="1600" dirty="0"/>
                        <a:t>(TIME SERIES MODEL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047608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28" y="861391"/>
            <a:ext cx="4041920" cy="51020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Conclusion</a:t>
            </a:r>
            <a:endParaRPr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2177039"/>
            <a:ext cx="7543801" cy="4023360"/>
          </a:xfrm>
        </p:spPr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Two forecasting models were evaluated: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Prophet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and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XGBoost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pPr marL="514350" indent="-514350">
              <a:buFont typeface="+mj-lt"/>
              <a:buAutoNum type="romanLcPeriod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Prophet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gave higher errors (MAE ≈ 61, RMSE ≈ 73, MAPE ≈ 54%)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XGBoost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performed very well than Prophet with much lower errors (MAE ≈ 16, RMSE ≈ 24, MAPE ≈ 18%).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This shows that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XGBoost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is more robust, accurate, and reliable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for capturing the patterns and seasonality in the data compared to Prophet.</a:t>
            </a:r>
          </a:p>
          <a:p>
            <a:pPr marL="514350" indent="-514350">
              <a:buFont typeface="+mj-lt"/>
              <a:buAutoNum type="romanLcPeriod"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Hence,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XGBoost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is recommended as the primary forecasting model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for future business use cases.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2871" y="2478157"/>
            <a:ext cx="4757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chemeClr val="accent6">
                    <a:lumMod val="75000"/>
                  </a:schemeClr>
                </a:solidFill>
                <a:latin typeface="Bahnschrift SemiBold" panose="020B0502040204020203" pitchFamily="34" charset="0"/>
              </a:rPr>
              <a:t>THANKYOU</a:t>
            </a:r>
            <a:r>
              <a:rPr lang="en-IN" sz="6000" dirty="0">
                <a:solidFill>
                  <a:schemeClr val="accent6">
                    <a:lumMod val="75000"/>
                  </a:schemeClr>
                </a:solidFill>
              </a:rPr>
              <a:t>!!</a:t>
            </a:r>
          </a:p>
        </p:txBody>
      </p:sp>
      <p:sp>
        <p:nvSpPr>
          <p:cNvPr id="4" name="Oval 3"/>
          <p:cNvSpPr/>
          <p:nvPr/>
        </p:nvSpPr>
        <p:spPr>
          <a:xfrm>
            <a:off x="1784412" y="2139518"/>
            <a:ext cx="5433134" cy="1695635"/>
          </a:xfrm>
          <a:prstGeom prst="ellipse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79919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396</TotalTime>
  <Words>1608</Words>
  <Application>Microsoft Office PowerPoint</Application>
  <PresentationFormat>On-screen Show (4:3)</PresentationFormat>
  <Paragraphs>177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72 Condensed</vt:lpstr>
      <vt:lpstr>Arial</vt:lpstr>
      <vt:lpstr>Arial Rounded MT Bold</vt:lpstr>
      <vt:lpstr>Bahnschrift Light SemiCondensed</vt:lpstr>
      <vt:lpstr>Bahnschrift SemiBold</vt:lpstr>
      <vt:lpstr>Baskerville Old Face</vt:lpstr>
      <vt:lpstr>Calibri</vt:lpstr>
      <vt:lpstr>Calibri Light</vt:lpstr>
      <vt:lpstr>Consolas</vt:lpstr>
      <vt:lpstr>Wingdings</vt:lpstr>
      <vt:lpstr>Retrospect</vt:lpstr>
      <vt:lpstr>Worksheet</vt:lpstr>
      <vt:lpstr>PowerPoint Presentation</vt:lpstr>
      <vt:lpstr>Sales &amp; Procurement Forecasting using Machine Learning and Python</vt:lpstr>
      <vt:lpstr>AGENDA</vt:lpstr>
      <vt:lpstr>Introduction</vt:lpstr>
      <vt:lpstr>Business Problem (Amount &amp; Month Focus)</vt:lpstr>
      <vt:lpstr>Data Used</vt:lpstr>
      <vt:lpstr>Forecasting Models</vt:lpstr>
      <vt:lpstr>CODE USED FOR PROPHET MODEL</vt:lpstr>
      <vt:lpstr>PowerPoint Presentation</vt:lpstr>
      <vt:lpstr>Model Evaluation Result</vt:lpstr>
      <vt:lpstr>Result and Accuracy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&amp; Procurement Forecasting using Machine Learning and Python</dc:title>
  <dc:subject/>
  <dc:creator>DARSHITA PANDEY [ TMCV, Pantnagar ]</dc:creator>
  <cp:keywords/>
  <dc:description>generated using python-pptx</dc:description>
  <cp:lastModifiedBy>DARSHITA PANDEY</cp:lastModifiedBy>
  <cp:revision>26</cp:revision>
  <dcterms:created xsi:type="dcterms:W3CDTF">2013-01-27T09:14:16Z</dcterms:created>
  <dcterms:modified xsi:type="dcterms:W3CDTF">2026-09-10T08:54:55Z</dcterms:modified>
  <cp:category/>
</cp:coreProperties>
</file>